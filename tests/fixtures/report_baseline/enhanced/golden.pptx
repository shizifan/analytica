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2026 Q1 港区吞吐量分析报告 (Enhanced)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0A500"/>
                </a:solidFill>
                <a:latin typeface="Microsoft YaHei"/>
              </a:defRPr>
            </a:pPr>
            <a:r>
              <a:t>编制：Analytica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2026-04-29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3A5F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188720"/>
            <a:ext cx="73152" cy="219456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3A5F"/>
                </a:solidFill>
                <a:latin typeface="Microsoft YaHei"/>
              </a:defRPr>
            </a:pPr>
            <a:r>
              <a:t>1.  一、执行摘要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3A5F"/>
                </a:solidFill>
                <a:latin typeface="Microsoft YaHei"/>
              </a:defRPr>
            </a:pPr>
            <a:r>
              <a:t>2.  二、现状分析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3A5F"/>
                </a:solidFill>
                <a:latin typeface="Microsoft YaHei"/>
              </a:defRPr>
            </a:pPr>
            <a:r>
              <a:t>3.  三、归因分析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97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3A5F"/>
                </a:solidFill>
                <a:latin typeface="Microsoft YaHei"/>
              </a:defRPr>
            </a:pPr>
            <a:r>
              <a:t>4.  四、行动建议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5F"/>
                </a:solidFill>
                <a:latin typeface="Microsoft YaHei"/>
              </a:defRPr>
            </a:pPr>
            <a:r>
              <a:t>核心经营指标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64592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46E7A"/>
                </a:solidFill>
                <a:latin typeface="Microsoft YaHei"/>
              </a:defRPr>
            </a:pPr>
            <a:r>
              <a:t>总吞吐量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7D32"/>
                </a:solidFill>
                <a:latin typeface="Calibri"/>
              </a:defRPr>
            </a:pPr>
            <a:r>
              <a:t>9500.6 万吨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46E7A"/>
                </a:solidFill>
                <a:latin typeface="Microsoft YaHei"/>
              </a:defRPr>
            </a:pPr>
            <a:r>
              <a:t>2026 Q1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188720"/>
            <a:ext cx="164592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371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46E7A"/>
                </a:solidFill>
                <a:latin typeface="Microsoft YaHei"/>
              </a:defRPr>
            </a:pPr>
            <a:r>
              <a:t>同比增长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8288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7D32"/>
                </a:solidFill>
                <a:latin typeface="Calibri"/>
              </a:defRPr>
            </a:pPr>
            <a:r>
              <a:t>12.0%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30175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46E7A"/>
                </a:solidFill>
                <a:latin typeface="Microsoft YaHei"/>
              </a:defRPr>
            </a:pPr>
            <a:r>
              <a:t>YoY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188720"/>
            <a:ext cx="164592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371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46E7A"/>
                </a:solidFill>
                <a:latin typeface="Microsoft YaHei"/>
              </a:defRPr>
            </a:pPr>
            <a:r>
              <a:t>最高港区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8288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3A5F"/>
                </a:solidFill>
                <a:latin typeface="Calibri"/>
              </a:defRPr>
            </a:pPr>
            <a:r>
              <a:t>大连港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0175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46E7A"/>
                </a:solidFill>
                <a:latin typeface="Microsoft YaHei"/>
              </a:defRPr>
            </a:pPr>
            <a:r>
              <a:t>4500.5 万吨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188720"/>
            <a:ext cx="164592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371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46E7A"/>
                </a:solidFill>
                <a:latin typeface="Microsoft YaHei"/>
              </a:defRPr>
            </a:pPr>
            <a:r>
              <a:t>负增长港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8288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62828"/>
                </a:solidFill>
                <a:latin typeface="Calibri"/>
              </a:defRPr>
            </a:pPr>
            <a:r>
              <a:t>锦州港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175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46E7A"/>
                </a:solidFill>
                <a:latin typeface="Microsoft YaHei"/>
              </a:defRPr>
            </a:pPr>
            <a:r>
              <a:t>-3.0%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0A5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一、执行摘要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389120"/>
            <a:ext cx="1828800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73152" cy="630936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一、执行摘要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2026 Q1 三港区合计吞吐量 9500.6 万吨，同比增长 12%。大连港持续领跑，锦州港受天气拖累出现负增长。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0A5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二、现状分析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389120"/>
            <a:ext cx="1828800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二、现状分析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463040"/>
            <a:ext cx="338328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46E7A"/>
                </a:solidFill>
                <a:latin typeface="Microsoft YaHei"/>
              </a:defRPr>
            </a:pPr>
            <a:r>
              <a:t>throughput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377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7D32"/>
                </a:solidFill>
                <a:latin typeface="Calibri"/>
              </a:defRPr>
            </a:pPr>
            <a:r>
              <a:t>↑12.0%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474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46E7A"/>
                </a:solidFill>
                <a:latin typeface="Microsoft YaHei"/>
              </a:defRPr>
            </a:pPr>
            <a:r>
              <a:t>同比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0233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7D32"/>
                </a:solidFill>
                <a:latin typeface="Calibri"/>
              </a:defRPr>
            </a:pPr>
            <a:r>
              <a:t>↑3.0%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937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46E7A"/>
                </a:solidFill>
                <a:latin typeface="Microsoft YaHei"/>
              </a:defRPr>
            </a:pPr>
            <a:r>
              <a:t>环比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463040"/>
            <a:ext cx="338328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645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46E7A"/>
                </a:solidFill>
                <a:latin typeface="Microsoft YaHei"/>
              </a:defRPr>
            </a:pPr>
            <a:r>
              <a:t>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377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7D32"/>
                </a:solidFill>
                <a:latin typeface="Calibri"/>
              </a:defRPr>
            </a:pPr>
            <a:r>
              <a:t>↑4.0%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474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46E7A"/>
                </a:solidFill>
                <a:latin typeface="Microsoft YaHei"/>
              </a:defRPr>
            </a:pPr>
            <a:r>
              <a:t>同比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0233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62828"/>
                </a:solidFill>
                <a:latin typeface="Calibri"/>
              </a:defRPr>
            </a:pPr>
            <a:r>
              <a:t>↓1.0%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937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46E7A"/>
                </a:solidFill>
                <a:latin typeface="Microsoft YaHei"/>
              </a:defRPr>
            </a:pPr>
            <a:r>
              <a:t>环比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港区吞吐量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229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2D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系列1</a:t>
                      </a:r>
                    </a:p>
                  </a:txBody>
                  <a:tcPr>
                    <a:solidFill>
                      <a:srgbClr val="2D5F8A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大连港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4,500.50</a:t>
                      </a:r>
                    </a:p>
                  </a:txBody>
                  <a:tcPr/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营口港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3,200.10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锦州港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1,800.00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0A50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三、归因分析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389120"/>
            <a:ext cx="1828800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73152" cy="630936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三、归因分析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⚠ 注意: 锦州港 yoy -3% 已连续两个季度走弱，需要警惕设备老化风险。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💡 提示: 装卸效率提升对总吞吐贡献 31%，推荐复制至其它港区。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0A50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四、行动建议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389120"/>
            <a:ext cx="1828800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t>四、行动建议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560320" cy="5029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56032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237744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短期 (Q2)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锦州港启动设备巡检专项</a:t>
            </a:r>
            <a:br/>
            <a:r>
              <a:t>• 复用大连港装卸 SOP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188720"/>
            <a:ext cx="2560320" cy="5029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0" y="1188720"/>
            <a:ext cx="256032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80160"/>
            <a:ext cx="237744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中期 (H2)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6596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营口港运力扩张 +15%</a:t>
            </a:r>
            <a:br/>
            <a:r>
              <a:t>• 天气联动调度系统上线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188720"/>
            <a:ext cx="2560320" cy="5029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1188720"/>
            <a:ext cx="256032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280160"/>
            <a:ext cx="237744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长期 (2027+)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6596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三港区一体化调度</a:t>
            </a:r>
            <a:br/>
            <a:r>
              <a:t>• 智能设备改造完成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核心结论与建议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005840"/>
            <a:ext cx="2743200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2026 Q1 三港区合计吞吐量 9500.6 万吨，同比增长 12%。大连港持续领跑，锦州港受天气拖累出现负增长。...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谢谢观看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657600"/>
            <a:ext cx="1828800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0A500"/>
                </a:solidFill>
                <a:latin typeface="Calibr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