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2026 Q1 港区吞吐量分析报告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0A500"/>
                </a:solidFill>
                <a:latin typeface="Microsoft YaHei"/>
              </a:defRPr>
            </a:pPr>
            <a:r>
              <a:t>编制：Analytica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2026-04-29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5F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188720"/>
            <a:ext cx="73152" cy="1645919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3A5F"/>
                </a:solidFill>
                <a:latin typeface="Microsoft YaHei"/>
              </a:defRPr>
            </a:pPr>
            <a:r>
              <a:t>1.  一、港区吞吐量现状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91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3A5F"/>
                </a:solidFill>
                <a:latin typeface="Microsoft YaHei"/>
              </a:defRPr>
            </a:pPr>
            <a:r>
              <a:t>2.  二、关键指标分析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3A5F"/>
                </a:solidFill>
                <a:latin typeface="Microsoft YaHei"/>
              </a:defRPr>
            </a:pPr>
            <a:r>
              <a:t>3.  三、综合结论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3A5F"/>
                </a:solidFill>
                <a:latin typeface="Microsoft YaHei"/>
              </a:defRPr>
            </a:pPr>
            <a:r>
              <a:t>核心经营指标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2255519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6E7A"/>
                </a:solidFill>
                <a:latin typeface="Microsoft YaHei"/>
              </a:defRPr>
            </a:pPr>
            <a:r>
              <a:t>总吞吐量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207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9500.6 万吨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46E7A"/>
                </a:solidFill>
                <a:latin typeface="Microsoft YaHei"/>
              </a:defRPr>
            </a:pPr>
            <a:r>
              <a:t>2026 Q1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800" y="1188720"/>
            <a:ext cx="2255519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4240" y="137160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6E7A"/>
                </a:solidFill>
                <a:latin typeface="Microsoft YaHei"/>
              </a:defRPr>
            </a:pPr>
            <a:r>
              <a:t>同比增长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240" y="1828800"/>
            <a:ext cx="207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12.0%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4240" y="301752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46E7A"/>
                </a:solidFill>
                <a:latin typeface="Microsoft YaHei"/>
              </a:defRPr>
            </a:pPr>
            <a:r>
              <a:t>YoY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188720"/>
            <a:ext cx="2255519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2639" y="137160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46E7A"/>
                </a:solidFill>
                <a:latin typeface="Microsoft YaHei"/>
              </a:defRPr>
            </a:pPr>
            <a:r>
              <a:t>最高港区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639" y="1828800"/>
            <a:ext cx="207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3A5F"/>
                </a:solidFill>
                <a:latin typeface="Calibri"/>
              </a:defRPr>
            </a:pPr>
            <a:r>
              <a:t>大连港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2639" y="3017520"/>
            <a:ext cx="207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46E7A"/>
                </a:solidFill>
                <a:latin typeface="Microsoft YaHei"/>
              </a:defRPr>
            </a:pPr>
            <a:r>
              <a:t>4500.5 万吨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0A5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一、港区吞吐量现状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73152" cy="6309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一、港区吞吐量现状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2026 Q1 大连港吞吐量达 4500.5 万吨，同比增长 12%，居三港之首；营口港 3200.1 万吨，锦州港 1800.0 万吨。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港区吞吐量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D5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系列1</a:t>
                      </a:r>
                    </a:p>
                  </a:txBody>
                  <a:tcPr>
                    <a:solidFill>
                      <a:srgbClr val="2D5F8A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大连港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4,500.50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营口港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3,200.10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锦州港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1,800.00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0A5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二、关键指标分析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二、关键指标分析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463040"/>
            <a:ext cx="7040880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459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46E7A"/>
                </a:solidFill>
                <a:latin typeface="Microsoft YaHei"/>
              </a:defRPr>
            </a:pPr>
            <a:r>
              <a:t>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6766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↑12.0%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46E7A"/>
                </a:solidFill>
                <a:latin typeface="Microsoft YaHei"/>
              </a:defRPr>
            </a:pPr>
            <a:r>
              <a:t>同比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02336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Calibri"/>
              </a:defRPr>
            </a:pPr>
            <a:r>
              <a:t>↑3.0%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93776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46E7A"/>
                </a:solidFill>
                <a:latin typeface="Microsoft YaHei"/>
              </a:defRPr>
            </a:pPr>
            <a:r>
              <a:t>环比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二、关键指标分析 - 统计数据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800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latin typeface="Microsoft YaHei"/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3,166.87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1,800.00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4,500.50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0A5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三、综合结论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73152" cy="6309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Microsoft YaHei"/>
              </a:defRPr>
            </a:pPr>
            <a:r>
              <a:t>三、综合结论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三港区集装箱吞吐量整体稳健增长，大连港持续领跑。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