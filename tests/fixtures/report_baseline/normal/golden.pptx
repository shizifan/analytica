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2026 Q1 港区吞吐量分析报告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0A500"/>
                </a:solidFill>
                <a:latin typeface="Microsoft YaHei"/>
              </a:defRPr>
            </a:pPr>
            <a:r>
              <a:t>编制：Analytica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2026-04-29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E3A5F"/>
                </a:solidFill>
                <a:latin typeface="Microsoft YaHei"/>
              </a:defRPr>
            </a:pPr>
            <a:r>
              <a:t>目  录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188720"/>
            <a:ext cx="73152" cy="1645919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3A5F"/>
                </a:solidFill>
                <a:latin typeface="Microsoft YaHei"/>
              </a:defRPr>
            </a:pPr>
            <a:r>
              <a:t>1.  一、港区吞吐量现状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9164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3A5F"/>
                </a:solidFill>
                <a:latin typeface="Microsoft YaHei"/>
              </a:defRPr>
            </a:pPr>
            <a:r>
              <a:t>2.  二、关键指标分析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1945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3A5F"/>
                </a:solidFill>
                <a:latin typeface="Microsoft YaHei"/>
              </a:defRPr>
            </a:pPr>
            <a:r>
              <a:t>3.  三、综合结论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3A5F"/>
                </a:solidFill>
                <a:latin typeface="Microsoft YaHei"/>
              </a:defRPr>
            </a:pPr>
            <a:r>
              <a:t>核心经营指标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188720"/>
            <a:ext cx="2255519" cy="4114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371600"/>
            <a:ext cx="2072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46E7A"/>
                </a:solidFill>
                <a:latin typeface="Microsoft YaHei"/>
              </a:defRPr>
            </a:pPr>
            <a:r>
              <a:t>总吞吐量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2072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E7D32"/>
                </a:solidFill>
                <a:latin typeface="Calibri"/>
              </a:defRPr>
            </a:pPr>
            <a:r>
              <a:t>9500.6 万吨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017520"/>
            <a:ext cx="2072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546E7A"/>
                </a:solidFill>
                <a:latin typeface="Microsoft YaHei"/>
              </a:defRPr>
            </a:pPr>
            <a:r>
              <a:t>2026 Q1</a:t>
            </a:r>
          </a:p>
        </p:txBody>
      </p:sp>
      <p:sp>
        <p:nvSpPr>
          <p:cNvPr id="7" name="Rectangle 6"/>
          <p:cNvSpPr/>
          <p:nvPr/>
        </p:nvSpPr>
        <p:spPr>
          <a:xfrm>
            <a:off x="3352800" y="1188720"/>
            <a:ext cx="2255519" cy="4114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44240" y="1371600"/>
            <a:ext cx="2072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46E7A"/>
                </a:solidFill>
                <a:latin typeface="Microsoft YaHei"/>
              </a:defRPr>
            </a:pPr>
            <a:r>
              <a:t>同比增长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44240" y="1828800"/>
            <a:ext cx="2072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E7D32"/>
                </a:solidFill>
                <a:latin typeface="Calibri"/>
              </a:defRPr>
            </a:pPr>
            <a:r>
              <a:t>12.0%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44240" y="3017520"/>
            <a:ext cx="2072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546E7A"/>
                </a:solidFill>
                <a:latin typeface="Microsoft YaHei"/>
              </a:defRPr>
            </a:pPr>
            <a:r>
              <a:t>YoY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91200" y="1188720"/>
            <a:ext cx="2255519" cy="4114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82639" y="1371600"/>
            <a:ext cx="2072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46E7A"/>
                </a:solidFill>
                <a:latin typeface="Microsoft YaHei"/>
              </a:defRPr>
            </a:pPr>
            <a:r>
              <a:t>最高港区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82639" y="1828800"/>
            <a:ext cx="2072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1E3A5F"/>
                </a:solidFill>
                <a:latin typeface="Calibri"/>
              </a:defRPr>
            </a:pPr>
            <a:r>
              <a:t>大连港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82639" y="3017520"/>
            <a:ext cx="2072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546E7A"/>
                </a:solidFill>
                <a:latin typeface="Microsoft YaHei"/>
              </a:defRPr>
            </a:pPr>
            <a:r>
              <a:t>4500.5 万吨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0A500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一、港区吞吐量现状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4389120"/>
            <a:ext cx="1828800" cy="54864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3A5F"/>
                </a:solidFill>
                <a:latin typeface="Microsoft YaHei"/>
              </a:defRPr>
            </a:pPr>
            <a:r>
              <a:t>港区吞吐量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822960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42291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类别</a:t>
                      </a:r>
                    </a:p>
                  </a:txBody>
                  <a:tcPr>
                    <a:solidFill>
                      <a:srgbClr val="2D5F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系列1</a:t>
                      </a:r>
                    </a:p>
                  </a:txBody>
                  <a:tcPr>
                    <a:solidFill>
                      <a:srgbClr val="2D5F8A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>
                        <a:defRPr sz="1000">
                          <a:latin typeface="Calibri"/>
                        </a:defRPr>
                      </a:pPr>
                      <a:r>
                        <a:t>大连港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Calibri"/>
                        </a:defRPr>
                      </a:pPr>
                      <a:r>
                        <a:t>4,500.50</a:t>
                      </a:r>
                    </a:p>
                  </a:txBody>
                  <a:tcPr/>
                </a:tc>
              </a:tr>
              <a:tr h="422910">
                <a:tc>
                  <a:txBody>
                    <a:bodyPr/>
                    <a:lstStyle/>
                    <a:p>
                      <a:pPr>
                        <a:defRPr sz="1000">
                          <a:latin typeface="Calibri"/>
                        </a:defRPr>
                      </a:pPr>
                      <a:r>
                        <a:t>营口港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Calibri"/>
                        </a:defRPr>
                      </a:pPr>
                      <a:r>
                        <a:t>3,200.10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>
                        <a:defRPr sz="1000">
                          <a:latin typeface="Calibri"/>
                        </a:defRPr>
                      </a:pPr>
                      <a:r>
                        <a:t>锦州港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Calibri"/>
                        </a:defRPr>
                      </a:pPr>
                      <a:r>
                        <a:t>1,800.00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0A500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二、关键指标分析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4389120"/>
            <a:ext cx="1828800" cy="54864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E3A5F"/>
                </a:solidFill>
                <a:latin typeface="Microsoft YaHei"/>
              </a:defRPr>
            </a:pPr>
            <a:r>
              <a:t>二、关键指标分析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1051560" y="1463040"/>
            <a:ext cx="7040880" cy="4114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645920"/>
            <a:ext cx="6766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546E7A"/>
                </a:solidFill>
                <a:latin typeface="Microsoft YaHei"/>
              </a:defRPr>
            </a:pPr>
            <a:r>
              <a:t>throughput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377440"/>
            <a:ext cx="6766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E7D32"/>
                </a:solidFill>
                <a:latin typeface="Calibri"/>
              </a:defRPr>
            </a:pPr>
            <a:r>
              <a:t>↑12.0%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474720"/>
            <a:ext cx="6766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46E7A"/>
                </a:solidFill>
                <a:latin typeface="Microsoft YaHei"/>
              </a:defRPr>
            </a:pPr>
            <a:r>
              <a:t>同比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023360"/>
            <a:ext cx="6766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E7D32"/>
                </a:solidFill>
                <a:latin typeface="Calibri"/>
              </a:defRPr>
            </a:pPr>
            <a:r>
              <a:t>↑3.0%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937760"/>
            <a:ext cx="6766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46E7A"/>
                </a:solidFill>
                <a:latin typeface="Microsoft YaHei"/>
              </a:defRPr>
            </a:pPr>
            <a:r>
              <a:t>环比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3A5F"/>
                </a:solidFill>
                <a:latin typeface="Microsoft YaHei"/>
              </a:defRPr>
            </a:pPr>
            <a:r>
              <a:t>二、关键指标分析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4526280" y="1097280"/>
            <a:ext cx="45720" cy="53035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3931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2026 Q1 大连港吞吐量达 4500.5 万吨，同比增长 12%，居三港之首；营口港 3200.1 万吨，锦州港 1800.0 万吨。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188720"/>
            <a:ext cx="3931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throughput：均值 3,166.87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3A5F"/>
                </a:solidFill>
                <a:latin typeface="Microsoft YaHei"/>
              </a:defRPr>
            </a:pPr>
            <a:r>
              <a:t>二、关键指标分析 - 统计数据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822960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4800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指标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median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std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min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max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000">
                          <a:latin typeface="Microsoft YaHei"/>
                        </a:defRPr>
                      </a:pPr>
                      <a:r>
                        <a:t>throughput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Calibri"/>
                        </a:defRPr>
                      </a:pPr>
                      <a:r>
                        <a:t>3,166.87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Calibri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Calibri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Calibri"/>
                        </a:defRPr>
                      </a:pPr>
                      <a:r>
                        <a:t>1,800.00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Calibri"/>
                        </a:defRPr>
                      </a:pPr>
                      <a:r>
                        <a:t>4,500.50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0A500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三、综合结论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4389120"/>
            <a:ext cx="1828800" cy="54864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核心结论与建议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1005840"/>
            <a:ext cx="2743200" cy="54864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  三港区集装箱吞吐量整体稳健增长，大连港持续领跑。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谢谢观看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657600"/>
            <a:ext cx="1828800" cy="54864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0A500"/>
                </a:solidFill>
                <a:latin typeface="Calibri"/>
              </a:defRPr>
            </a:pPr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